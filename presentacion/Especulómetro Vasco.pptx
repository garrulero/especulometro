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Inter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InterLight-italic.fntdata"/><Relationship Id="rId22" Type="http://schemas.openxmlformats.org/officeDocument/2006/relationships/font" Target="fonts/Inter-bold.fntdata"/><Relationship Id="rId10" Type="http://schemas.openxmlformats.org/officeDocument/2006/relationships/font" Target="fonts/InterLight-bold.fntdata"/><Relationship Id="rId21" Type="http://schemas.openxmlformats.org/officeDocument/2006/relationships/font" Target="fonts/Inter-regular.fntdata"/><Relationship Id="rId13" Type="http://schemas.openxmlformats.org/officeDocument/2006/relationships/font" Target="fonts/InterSemiBold-regular.fntdata"/><Relationship Id="rId24" Type="http://schemas.openxmlformats.org/officeDocument/2006/relationships/font" Target="fonts/Inter-boldItalic.fntdata"/><Relationship Id="rId12" Type="http://schemas.openxmlformats.org/officeDocument/2006/relationships/font" Target="fonts/InterLight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regular.fntdata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2.png"/><Relationship Id="rId13" Type="http://schemas.openxmlformats.org/officeDocument/2006/relationships/image" Target="../media/image21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10300"/>
            <a:ext cx="11049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6169"/>
            <a:ext cx="3524250" cy="2087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3166169"/>
            <a:ext cx="3524250" cy="2087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166169"/>
            <a:ext cx="3524250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ESPECULÓMETRO VASCO 🔬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15049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Auditoría y Predicción del Suelo Residencial en Euskadi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47775" y="3461444"/>
            <a:ext cx="26803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EL PROBLEMA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66775" y="3861494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Tensión de precios, inflación artificial y desplazamiento vecinal acelerado por la proliferación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VUTs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953000" y="3461444"/>
            <a:ext cx="27403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EL OBJETIVO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629150" y="3861494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Crear un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Ecosistema ML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capaz de fiscalizar el comportamiento del mercado inmobiliario en tiempo real.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715375" y="3461444"/>
            <a:ext cx="27403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IMPACTO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391525" y="3861494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Clasificación de grandes tenedores, detección de irregularidades y cálculo del impacto inflacionista en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€/m²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98" name="Google Shape;9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485257"/>
            <a:ext cx="285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3485257"/>
            <a:ext cx="2286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3485257"/>
            <a:ext cx="2286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9220"/>
            <a:ext cx="11049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94720"/>
            <a:ext cx="2025550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39925" y="4194720"/>
            <a:ext cx="2047875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0675" y="4194720"/>
            <a:ext cx="2025699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9250" y="4194720"/>
            <a:ext cx="2352675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4800" y="4194720"/>
            <a:ext cx="2025699" cy="2306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ECOSISTEMA DE FUENTES 🌐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71500" y="14478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Pipeline ETL: Integración de Censos, APIs y Open Data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2108745"/>
            <a:ext cx="110299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819150" y="5051970"/>
            <a:ext cx="1606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INSIDE AIRBNB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19150" y="5613945"/>
            <a:ext cx="15302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Censo base territorial, coordenadas y licencias oficiales.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2987575" y="5051970"/>
            <a:ext cx="163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BOOKING.COM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987575" y="5404395"/>
            <a:ext cx="155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Monitorización de fricción comercial y disponibilidad real.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178325" y="5051970"/>
            <a:ext cx="1606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EUSTAT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178325" y="5404395"/>
            <a:ext cx="1530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Microdatos socioeconómicos y renta media por hogar.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346900" y="5051970"/>
            <a:ext cx="195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OPENSTREETMAP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346900" y="5404395"/>
            <a:ext cx="1857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Cálculo de densidad de ocio y presión de infraestructura.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842450" y="5051970"/>
            <a:ext cx="1606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CATASTRO / IDEALISTA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842450" y="5613945"/>
            <a:ext cx="153039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Coste basal del suelo y valor de alquiler tradicional.</a:t>
            </a:r>
            <a:endParaRPr/>
          </a:p>
        </p:txBody>
      </p:sp>
      <p:pic>
        <p:nvPicPr>
          <p:cNvPr descr="image.png" id="126" name="Google Shape;12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448047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87575" y="44804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78325" y="44804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00" y="448047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42450" y="4480470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/>
        </p:nvSpPr>
        <p:spPr>
          <a:xfrm>
            <a:off x="571500" y="47625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VECTOR PREDICTOR Y ARQUITECTURA AI </a:t>
            </a:r>
            <a:r>
              <a:rPr b="1" lang="en-US" sz="2800">
                <a:solidFill>
                  <a:srgbClr val="2ECC7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81000" y="571500"/>
            <a:ext cx="38100" cy="381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5"/>
          <p:cNvGrpSpPr/>
          <p:nvPr/>
        </p:nvGrpSpPr>
        <p:grpSpPr>
          <a:xfrm>
            <a:off x="571500" y="1333500"/>
            <a:ext cx="5334000" cy="4572000"/>
            <a:chOff x="571500" y="1333500"/>
            <a:chExt cx="5334000" cy="4572000"/>
          </a:xfrm>
        </p:grpSpPr>
        <p:sp>
          <p:nvSpPr>
            <p:cNvPr id="138" name="Google Shape;138;p15"/>
            <p:cNvSpPr/>
            <p:nvPr/>
          </p:nvSpPr>
          <p:spPr>
            <a:xfrm>
              <a:off x="571500" y="13335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762000" y="15240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CC7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VARIABLES MAESTRAS (FEATURES)</a:t>
              </a:r>
              <a:endParaRPr b="1" sz="1400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40" name="Google Shape;140;p15"/>
            <p:cNvGrpSpPr/>
            <p:nvPr/>
          </p:nvGrpSpPr>
          <p:grpSpPr>
            <a:xfrm>
              <a:off x="762000" y="2000250"/>
              <a:ext cx="4953000" cy="571500"/>
              <a:chOff x="0" y="0"/>
              <a:chExt cx="4953000" cy="571500"/>
            </a:xfrm>
          </p:grpSpPr>
          <p:sp>
            <p:nvSpPr>
              <p:cNvPr id="141" name="Google Shape;141;p15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5"/>
              <p:cNvSpPr txBox="1"/>
              <p:nvPr/>
            </p:nvSpPr>
            <p:spPr>
              <a:xfrm>
                <a:off x="0" y="2921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ECC7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2000">
                  <a:solidFill>
                    <a:srgbClr val="2ECC7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3" name="Google Shape;143;p15"/>
              <p:cNvSpPr txBox="1"/>
              <p:nvPr/>
            </p:nvSpPr>
            <p:spPr>
              <a:xfrm>
                <a:off x="571500" y="0"/>
                <a:ext cx="438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price_clean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Tarifa base por noche del inmueble.</a:t>
                </a:r>
                <a:endParaRPr b="0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4" name="Google Shape;144;p15"/>
            <p:cNvGrpSpPr/>
            <p:nvPr/>
          </p:nvGrpSpPr>
          <p:grpSpPr>
            <a:xfrm>
              <a:off x="762000" y="2762250"/>
              <a:ext cx="4953000" cy="571500"/>
              <a:chOff x="0" y="0"/>
              <a:chExt cx="4953000" cy="571500"/>
            </a:xfrm>
          </p:grpSpPr>
          <p:sp>
            <p:nvSpPr>
              <p:cNvPr id="145" name="Google Shape;145;p15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0" y="2921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ECC7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event_available</a:t>
                </a:r>
                <a:endParaRPr sz="2000">
                  <a:solidFill>
                    <a:srgbClr val="2ECC7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7" name="Google Shape;147;p15"/>
              <p:cNvSpPr txBox="1"/>
              <p:nvPr/>
            </p:nvSpPr>
            <p:spPr>
              <a:xfrm>
                <a:off x="571500" y="0"/>
                <a:ext cx="438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availability_365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Días de disponibilidad anual (Presión).</a:t>
                </a:r>
                <a:endParaRPr b="0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762000" y="3524250"/>
              <a:ext cx="4953000" cy="571500"/>
              <a:chOff x="0" y="0"/>
              <a:chExt cx="4953000" cy="5715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 txBox="1"/>
              <p:nvPr/>
            </p:nvSpPr>
            <p:spPr>
              <a:xfrm>
                <a:off x="0" y="2921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ECC7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endParaRPr sz="2000">
                  <a:solidFill>
                    <a:srgbClr val="2ECC7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1" name="Google Shape;151;p15"/>
              <p:cNvSpPr txBox="1"/>
              <p:nvPr/>
            </p:nvSpPr>
            <p:spPr>
              <a:xfrm>
                <a:off x="571500" y="0"/>
                <a:ext cx="438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eustat_renta_media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Renta por hogar CP (Contexto Económico).</a:t>
                </a:r>
                <a:endParaRPr b="0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2" name="Google Shape;152;p15"/>
            <p:cNvGrpSpPr/>
            <p:nvPr/>
          </p:nvGrpSpPr>
          <p:grpSpPr>
            <a:xfrm>
              <a:off x="762000" y="4286250"/>
              <a:ext cx="4953000" cy="571500"/>
              <a:chOff x="0" y="0"/>
              <a:chExt cx="4953000" cy="571500"/>
            </a:xfrm>
          </p:grpSpPr>
          <p:sp>
            <p:nvSpPr>
              <p:cNvPr id="153" name="Google Shape;153;p15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5"/>
              <p:cNvSpPr txBox="1"/>
              <p:nvPr/>
            </p:nvSpPr>
            <p:spPr>
              <a:xfrm>
                <a:off x="0" y="2921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ECC7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nightlife</a:t>
                </a:r>
                <a:endParaRPr sz="2000">
                  <a:solidFill>
                    <a:srgbClr val="2ECC7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5" name="Google Shape;155;p15"/>
              <p:cNvSpPr txBox="1"/>
              <p:nvPr/>
            </p:nvSpPr>
            <p:spPr>
              <a:xfrm>
                <a:off x="571500" y="0"/>
                <a:ext cx="438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osm_densidad_ocio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Locales de ocio en un radio de 500m.</a:t>
                </a:r>
                <a:endParaRPr b="0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" name="Google Shape;156;p15"/>
          <p:cNvGrpSpPr/>
          <p:nvPr/>
        </p:nvGrpSpPr>
        <p:grpSpPr>
          <a:xfrm>
            <a:off x="6286500" y="1333500"/>
            <a:ext cx="5334000" cy="4572000"/>
            <a:chOff x="6286500" y="1333500"/>
            <a:chExt cx="5334000" cy="4572000"/>
          </a:xfrm>
        </p:grpSpPr>
        <p:sp>
          <p:nvSpPr>
            <p:cNvPr id="157" name="Google Shape;157;p15"/>
            <p:cNvSpPr/>
            <p:nvPr/>
          </p:nvSpPr>
          <p:spPr>
            <a:xfrm>
              <a:off x="6286500" y="13335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6477000" y="15240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4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STACKING ENSEMBLE (TARGETS)</a:t>
              </a:r>
              <a:endParaRPr b="1" sz="1400">
                <a:solidFill>
                  <a:srgbClr val="FF4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59" name="Google Shape;159;p15"/>
            <p:cNvGrpSpPr/>
            <p:nvPr/>
          </p:nvGrpSpPr>
          <p:grpSpPr>
            <a:xfrm>
              <a:off x="6472238" y="1995488"/>
              <a:ext cx="4962600" cy="771600"/>
              <a:chOff x="-4762" y="-4762"/>
              <a:chExt cx="4962600" cy="771600"/>
            </a:xfrm>
          </p:grpSpPr>
          <p:pic>
            <p:nvPicPr>
              <p:cNvPr id="160" name="Google Shape;160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49626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" name="Google Shape;161;p15"/>
              <p:cNvSpPr txBox="1"/>
              <p:nvPr/>
            </p:nvSpPr>
            <p:spPr>
              <a:xfrm>
                <a:off x="190500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M1: Gran Tenedor (RF)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Clasificador de Multi-Hosts y acumuladores de suelo.</a:t>
                </a:r>
                <a:endParaRPr b="0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2" name="Google Shape;162;p15"/>
            <p:cNvGrpSpPr/>
            <p:nvPr/>
          </p:nvGrpSpPr>
          <p:grpSpPr>
            <a:xfrm>
              <a:off x="6472238" y="2900363"/>
              <a:ext cx="4962600" cy="771600"/>
              <a:chOff x="-4762" y="-4762"/>
              <a:chExt cx="4962600" cy="771600"/>
            </a:xfrm>
          </p:grpSpPr>
          <p:pic>
            <p:nvPicPr>
              <p:cNvPr id="163" name="Google Shape;163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49626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" name="Google Shape;164;p15"/>
              <p:cNvSpPr txBox="1"/>
              <p:nvPr/>
            </p:nvSpPr>
            <p:spPr>
              <a:xfrm>
                <a:off x="190500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M2: Fraude Licencia (XGBoost)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Detección de anomalías en campos de registro oficiales.</a:t>
                </a:r>
                <a:endParaRPr b="0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5" name="Google Shape;165;p15"/>
            <p:cNvGrpSpPr/>
            <p:nvPr/>
          </p:nvGrpSpPr>
          <p:grpSpPr>
            <a:xfrm>
              <a:off x="6477000" y="3810000"/>
              <a:ext cx="4953000" cy="952500"/>
              <a:chOff x="0" y="0"/>
              <a:chExt cx="4953000" cy="952500"/>
            </a:xfrm>
          </p:grpSpPr>
          <p:sp>
            <p:nvSpPr>
              <p:cNvPr id="166" name="Google Shape;166;p15"/>
              <p:cNvSpPr/>
              <p:nvPr/>
            </p:nvSpPr>
            <p:spPr>
              <a:xfrm>
                <a:off x="0" y="0"/>
                <a:ext cx="4953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0F172A"/>
              </a:solidFill>
              <a:ln cap="flat" cmpd="sng" w="19050">
                <a:solidFill>
                  <a:srgbClr val="2ECC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 txBox="1"/>
              <p:nvPr/>
            </p:nvSpPr>
            <p:spPr>
              <a:xfrm>
                <a:off x="190500" y="0"/>
                <a:ext cx="4572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ECC71"/>
                    </a:solidFill>
                    <a:latin typeface="Inter"/>
                    <a:ea typeface="Inter"/>
                    <a:cs typeface="Inter"/>
                    <a:sym typeface="Inter"/>
                  </a:rPr>
                  <a:t>M3: Impacto €/m² (RF Regressor) ★ Meta-Modelo</a:t>
                </a:r>
                <a:endParaRPr b="1" sz="1100">
                  <a:solidFill>
                    <a:srgbClr val="2ECC7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Predicción de la presión inflacionaria usando meta-features de M1 y M2.</a:t>
                </a:r>
                <a:endParaRPr b="0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168" name="Google Shape;16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43975" y="2762250"/>
              <a:ext cx="19200" cy="1028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15"/>
          <p:cNvSpPr txBox="1"/>
          <p:nvPr/>
        </p:nvSpPr>
        <p:spPr>
          <a:xfrm>
            <a:off x="571500" y="628650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CC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🚀 Siguiente Fase: Despliegue Web (FastAPI + Next.js)</a:t>
            </a:r>
            <a:endParaRPr b="0" sz="1100">
              <a:solidFill>
                <a:srgbClr val="2ECC7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8763000" y="6286500"/>
            <a:ext cx="2857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Hito de Entrega: 5 de Junio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